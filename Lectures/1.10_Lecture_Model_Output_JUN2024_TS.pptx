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47" r:id="rId4"/>
    <p:sldMasterId id="2147484301" r:id="rId5"/>
    <p:sldMasterId id="2147484311" r:id="rId6"/>
    <p:sldMasterId id="2147484272" r:id="rId7"/>
    <p:sldMasterId id="2147484318" r:id="rId8"/>
  </p:sldMasterIdLst>
  <p:notesMasterIdLst>
    <p:notesMasterId r:id="rId17"/>
  </p:notesMasterIdLst>
  <p:handoutMasterIdLst>
    <p:handoutMasterId r:id="rId18"/>
  </p:handoutMasterIdLst>
  <p:sldIdLst>
    <p:sldId id="286" r:id="rId9"/>
    <p:sldId id="347" r:id="rId10"/>
    <p:sldId id="372" r:id="rId11"/>
    <p:sldId id="371" r:id="rId12"/>
    <p:sldId id="369" r:id="rId13"/>
    <p:sldId id="370" r:id="rId14"/>
    <p:sldId id="368" r:id="rId15"/>
    <p:sldId id="301" r:id="rId16"/>
  </p:sldIdLst>
  <p:sldSz cx="12192000" cy="6858000"/>
  <p:notesSz cx="7010400" cy="12039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464" userDrawn="1">
          <p15:clr>
            <a:srgbClr val="A4A3A4"/>
          </p15:clr>
        </p15:guide>
        <p15:guide id="4" pos="6408" userDrawn="1">
          <p15:clr>
            <a:srgbClr val="A4A3A4"/>
          </p15:clr>
        </p15:guide>
        <p15:guide id="5" orient="horz" pos="288" userDrawn="1">
          <p15:clr>
            <a:srgbClr val="A4A3A4"/>
          </p15:clr>
        </p15:guide>
        <p15:guide id="7" orient="horz" pos="34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227EEE"/>
    <a:srgbClr val="9F9C95"/>
    <a:srgbClr val="A4A5A3"/>
    <a:srgbClr val="CBCBCB"/>
    <a:srgbClr val="FFFFFF"/>
    <a:srgbClr val="FCAE3B"/>
    <a:srgbClr val="50771B"/>
    <a:srgbClr val="C19859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78F3DA-CE62-408C-8297-C3486CD7C5E0}" v="2" dt="2022-08-06T17:43:29.808"/>
    <p1510:client id="{C64E5B7A-D61A-4671-A8B7-33ECA5735BCA}" v="80" dt="2022-08-11T00:14:38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29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" y="1110"/>
      </p:cViewPr>
      <p:guideLst>
        <p:guide orient="horz" pos="2160"/>
        <p:guide pos="3840"/>
        <p:guide pos="4464"/>
        <p:guide pos="6408"/>
        <p:guide orient="horz" pos="288"/>
        <p:guide orient="horz" pos="345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9" y="0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1A2DE62-24B0-4972-852B-4785B8FCBE77}" type="datetimeFigureOut">
              <a:rPr lang="en-US"/>
              <a:pPr/>
              <a:t>6/25/2024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11435153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03F1684-B626-4C74-9731-CBE8CE5003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536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9" y="0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ADC5788-3AFA-4451-BC67-BFEEAB944D67}" type="datetimeFigureOut">
              <a:rPr lang="en-US"/>
              <a:pPr/>
              <a:t>6/25/2024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08000" y="903288"/>
            <a:ext cx="8026400" cy="4514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11435153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6A0A3C6-4E22-46FB-836F-CA2C48EC4DC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37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 userDrawn="1">
            <p:ph type="body" sz="quarter" idx="12"/>
          </p:nvPr>
        </p:nvSpPr>
        <p:spPr>
          <a:xfrm>
            <a:off x="609602" y="3200405"/>
            <a:ext cx="9144001" cy="15620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09600" y="1924055"/>
            <a:ext cx="9144000" cy="11075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106998"/>
            <a:ext cx="12191999" cy="4032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ENTER CLASSIFICATION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55410"/>
            <a:ext cx="12192000" cy="295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lang="en-US" sz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algn="ctr">
              <a:buFontTx/>
            </a:pPr>
            <a:r>
              <a:rPr lang="en-US" dirty="0"/>
              <a:t>CLICK TO ENTER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242102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01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2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86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2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6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9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5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6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97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13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20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 userDrawn="1">
          <p15:clr>
            <a:srgbClr val="FBAE40"/>
          </p15:clr>
        </p15:guide>
        <p15:guide id="2" orient="horz" pos="516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61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99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0041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47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 userDrawn="1">
          <p15:clr>
            <a:srgbClr val="FBAE40"/>
          </p15:clr>
        </p15:guide>
        <p15:guide id="2" orient="horz" pos="51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87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71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61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71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902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7155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653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C930DDFD-C2CD-854E-EAA8-FC5C400F36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4"/>
          <a:stretch/>
        </p:blipFill>
        <p:spPr>
          <a:xfrm>
            <a:off x="7149290" y="3082338"/>
            <a:ext cx="2150384" cy="24458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 descr="A body of water&#10;&#10;Description automatically generated">
            <a:extLst>
              <a:ext uri="{FF2B5EF4-FFF2-40B4-BE49-F238E27FC236}">
                <a16:creationId xmlns:a16="http://schemas.microsoft.com/office/drawing/2014/main" id="{8D345744-4BB6-A552-A696-3E29F74BAC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6078" r="16094"/>
          <a:stretch/>
        </p:blipFill>
        <p:spPr>
          <a:xfrm>
            <a:off x="9299674" y="3081534"/>
            <a:ext cx="2433110" cy="24458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 descr="A picture containing tree, water, outdoor, nature&#10;&#10;Description automatically generated">
            <a:extLst>
              <a:ext uri="{FF2B5EF4-FFF2-40B4-BE49-F238E27FC236}">
                <a16:creationId xmlns:a16="http://schemas.microsoft.com/office/drawing/2014/main" id="{CC7E3D49-3990-21E2-46AF-4FE1C76439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149290" y="516571"/>
            <a:ext cx="4583494" cy="25580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Footer Placeholder 19"/>
          <p:cNvSpPr>
            <a:spLocks noGrp="1"/>
          </p:cNvSpPr>
          <p:nvPr userDrawn="1">
            <p:ph type="ftr" sz="quarter" idx="3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41" name="Title Placeholder 17"/>
          <p:cNvSpPr>
            <a:spLocks noGrp="1"/>
          </p:cNvSpPr>
          <p:nvPr userDrawn="1">
            <p:ph type="title"/>
          </p:nvPr>
        </p:nvSpPr>
        <p:spPr>
          <a:xfrm>
            <a:off x="654050" y="1606545"/>
            <a:ext cx="7984853" cy="1273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 userDrawn="1">
            <p:ph type="body" idx="1"/>
          </p:nvPr>
        </p:nvSpPr>
        <p:spPr>
          <a:xfrm>
            <a:off x="654050" y="2505109"/>
            <a:ext cx="7984853" cy="278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665B91-8567-DD4A-BD2E-E719F20E35F0}"/>
              </a:ext>
            </a:extLst>
          </p:cNvPr>
          <p:cNvCxnSpPr/>
          <p:nvPr userDrawn="1"/>
        </p:nvCxnSpPr>
        <p:spPr>
          <a:xfrm flipH="1">
            <a:off x="1476587" y="6373877"/>
            <a:ext cx="10207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A2EE2D-7BB5-4F44-82C4-5CF4EE388EFF}"/>
              </a:ext>
            </a:extLst>
          </p:cNvPr>
          <p:cNvSpPr txBox="1"/>
          <p:nvPr userDrawn="1"/>
        </p:nvSpPr>
        <p:spPr>
          <a:xfrm>
            <a:off x="6224694" y="6442287"/>
            <a:ext cx="5567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solidFill>
                  <a:prstClr val="black"/>
                </a:solidFill>
              </a:rPr>
              <a:t>DISCOVER  |  DEVELOP  |  DELIVER</a:t>
            </a:r>
          </a:p>
        </p:txBody>
      </p:sp>
    </p:spTree>
    <p:extLst>
      <p:ext uri="{BB962C8B-B14F-4D97-AF65-F5344CB8AC3E}">
        <p14:creationId xmlns:p14="http://schemas.microsoft.com/office/powerpoint/2010/main" val="291978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1" r:id="rId1"/>
    <p:sldLayoutId id="2147484327" r:id="rId2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700" b="1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5ACBF0"/>
          </p15:clr>
        </p15:guide>
        <p15:guide id="2" pos="6144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AF9F99-F54C-A57F-DAA4-B479617EFA28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046" y="6580037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208023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8" r:id="rId2"/>
    <p:sldLayoutId id="2147484316" r:id="rId3"/>
    <p:sldLayoutId id="2147484309" r:id="rId4"/>
    <p:sldLayoutId id="2147484310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0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SzPct val="70000"/>
        <a:buFont typeface="Arial" panose="020B0604020202020204" pitchFamily="34" charset="0"/>
        <a:buChar char="►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»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ounded Rectangle 10"/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79919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13" r:id="rId2"/>
    <p:sldLayoutId id="2147484314" r:id="rId3"/>
    <p:sldLayoutId id="2147484317" r:id="rId4"/>
    <p:sldLayoutId id="2147484315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E67D63-A09B-E760-5A10-8242BCEA7941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2808" y="6587122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81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9" r:id="rId2"/>
    <p:sldLayoutId id="2147484280" r:id="rId3"/>
    <p:sldLayoutId id="2147484281" r:id="rId4"/>
    <p:sldLayoutId id="2147484282" r:id="rId5"/>
    <p:sldLayoutId id="2147484283" r:id="rId6"/>
    <p:sldLayoutId id="2147484284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 userDrawn="1">
          <p15:clr>
            <a:srgbClr val="5ACBF0"/>
          </p15:clr>
        </p15:guide>
        <p15:guide id="2" pos="7296" userDrawn="1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FCF4A6-EBC9-C2AC-2815-3FFFD71A1CF8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7522" y="-1985"/>
            <a:ext cx="96943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50" b="1">
                <a:solidFill>
                  <a:srgbClr val="898989"/>
                </a:solidFill>
                <a:cs typeface="Arial" pitchFamily="34" charset="0"/>
              </a:defRPr>
            </a:lvl1pPr>
          </a:lstStyle>
          <a:p>
            <a:fld id="{139BD942-CC14-44A4-87FB-46239297AF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prstClr val="black"/>
                </a:solidFill>
              </a:rPr>
              <a:t>US Army Corps of Engineers  </a:t>
            </a:r>
            <a:r>
              <a:rPr lang="en-US" sz="1400" dirty="0">
                <a:solidFill>
                  <a:prstClr val="black"/>
                </a:solidFill>
                <a:sym typeface="Symbol" panose="05050102010706020507" pitchFamily="18" charset="2"/>
              </a:rPr>
              <a:t></a:t>
            </a:r>
            <a:r>
              <a:rPr lang="en-US" sz="1400" dirty="0">
                <a:solidFill>
                  <a:prstClr val="black"/>
                </a:solidFill>
              </a:rPr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423884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0" r:id="rId1"/>
    <p:sldLayoutId id="2147484321" r:id="rId2"/>
    <p:sldLayoutId id="2147484322" r:id="rId3"/>
    <p:sldLayoutId id="2147484323" r:id="rId4"/>
    <p:sldLayoutId id="2147484324" r:id="rId5"/>
    <p:sldLayoutId id="2147484325" r:id="rId6"/>
    <p:sldLayoutId id="2147484326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09603" y="2561174"/>
            <a:ext cx="7652082" cy="2616768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Todd Steissberg</a:t>
            </a:r>
          </a:p>
          <a:p>
            <a:r>
              <a:rPr lang="en-US" sz="1800" dirty="0">
                <a:solidFill>
                  <a:schemeClr val="bg1"/>
                </a:solidFill>
              </a:rPr>
              <a:t>U.S. Army Engineer Research and Development Center, Environmental Laboratory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CE-QUAL-W2 Workshop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July 08 - 09, 2024</a:t>
            </a:r>
          </a:p>
          <a:p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683033"/>
            <a:ext cx="9144000" cy="687177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CE-QUAL-W2 Model Outputs</a:t>
            </a:r>
            <a:br>
              <a:rPr lang="en-US" sz="2400" dirty="0"/>
            </a:br>
            <a:r>
              <a:rPr lang="en-US" sz="2000" dirty="0"/>
              <a:t>Overview</a:t>
            </a:r>
            <a:endParaRPr lang="en-US" sz="2400" dirty="0"/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0"/>
          </p:nvPr>
        </p:nvSpPr>
        <p:spPr>
          <a:ln w="57150">
            <a:noFill/>
          </a:ln>
        </p:spPr>
        <p:txBody>
          <a:bodyPr/>
          <a:lstStyle/>
          <a:p>
            <a:fld id="{744B3473-5193-4AC1-9169-6977ADF2DCFC}" type="slidenum">
              <a:rPr lang="en-US"/>
              <a:pPr/>
              <a:t>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7223F22D-5DFC-42EB-8948-9B1384385F0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6600" y="5784725"/>
            <a:ext cx="977900" cy="9589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7FAA9B-4EFE-46EC-9922-77579BE627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809"/>
          <a:stretch/>
        </p:blipFill>
        <p:spPr>
          <a:xfrm>
            <a:off x="8261685" y="5635231"/>
            <a:ext cx="1162230" cy="1296087"/>
          </a:xfrm>
          <a:prstGeom prst="rect">
            <a:avLst/>
          </a:prstGeom>
        </p:spPr>
      </p:pic>
      <p:sp>
        <p:nvSpPr>
          <p:cNvPr id="15" name="WordArt 3" descr="Environmental Systems &#10;Modeling Team">
            <a:extLst>
              <a:ext uri="{FF2B5EF4-FFF2-40B4-BE49-F238E27FC236}">
                <a16:creationId xmlns:a16="http://schemas.microsoft.com/office/drawing/2014/main" id="{82DC1E1B-09D6-45CD-941D-66951F4189B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40651" y="5794410"/>
            <a:ext cx="977900" cy="12151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ArchUp">
              <a:avLst>
                <a:gd name="adj" fmla="val 11218855"/>
              </a:avLst>
            </a:prstTxWarp>
          </a:bodyPr>
          <a:lstStyle/>
          <a:p>
            <a:pPr algn="ctr" rtl="0">
              <a:buNone/>
            </a:pPr>
            <a:r>
              <a:rPr lang="en-US" sz="3600" kern="10" spc="0" dirty="0">
                <a:ln w="1587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Environmental Systems</a:t>
            </a:r>
          </a:p>
          <a:p>
            <a:pPr algn="ctr" rtl="0">
              <a:buNone/>
            </a:pPr>
            <a:r>
              <a:rPr lang="en-US" sz="3600" kern="10" spc="0" dirty="0">
                <a:ln w="1587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Modeling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/>
                <a:ea typeface="DengXian" panose="02010600030101010101" pitchFamily="2" charset="-122"/>
                <a:cs typeface="Arial"/>
              </a:rPr>
              <a:t>W2 Model Outputs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9606C-C4FD-00B1-9AFD-A4CFBF189023}"/>
              </a:ext>
            </a:extLst>
          </p:cNvPr>
          <p:cNvSpPr txBox="1"/>
          <p:nvPr/>
        </p:nvSpPr>
        <p:spPr>
          <a:xfrm>
            <a:off x="609600" y="1301756"/>
            <a:ext cx="8618376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latin typeface="+mn-lt"/>
              </a:rPr>
              <a:t>Model preprocessor outputs</a:t>
            </a:r>
          </a:p>
          <a:p>
            <a:pPr marL="1028700" lvl="1" indent="-457200">
              <a:spcAft>
                <a:spcPts val="600"/>
              </a:spcAft>
            </a:pPr>
            <a:r>
              <a:rPr lang="en-US" sz="2800" b="0" dirty="0">
                <a:solidFill>
                  <a:schemeClr val="tx1"/>
                </a:solidFill>
                <a:latin typeface="+mn-lt"/>
              </a:rPr>
              <a:t>pre.opt </a:t>
            </a:r>
          </a:p>
          <a:p>
            <a:pPr marL="1028700" lvl="1" indent="-457200">
              <a:spcAft>
                <a:spcPts val="600"/>
              </a:spcAft>
            </a:pPr>
            <a:r>
              <a:rPr lang="en-US" sz="2800" b="0" dirty="0">
                <a:solidFill>
                  <a:schemeClr val="tx1"/>
                </a:solidFill>
                <a:latin typeface="+mn-lt"/>
              </a:rPr>
              <a:t>pre.wrn</a:t>
            </a:r>
          </a:p>
          <a:p>
            <a:pPr marL="1028700" lvl="1" indent="-457200">
              <a:spcAft>
                <a:spcPts val="600"/>
              </a:spcAft>
            </a:pPr>
            <a:r>
              <a:rPr lang="en-US" sz="2800" b="0" dirty="0">
                <a:solidFill>
                  <a:schemeClr val="tx1"/>
                </a:solidFill>
                <a:latin typeface="+mn-lt"/>
              </a:rPr>
              <a:t>pre.err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44C51D-B895-4EBF-65B0-D8D94934BEFC}"/>
              </a:ext>
            </a:extLst>
          </p:cNvPr>
          <p:cNvSpPr txBox="1"/>
          <p:nvPr/>
        </p:nvSpPr>
        <p:spPr>
          <a:xfrm>
            <a:off x="611257" y="3624767"/>
            <a:ext cx="6004145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latin typeface="+mn-lt"/>
              </a:rPr>
              <a:t>Model outputs</a:t>
            </a:r>
          </a:p>
          <a:p>
            <a:pPr marL="1028700" lvl="1" indent="-457200">
              <a:spcAft>
                <a:spcPts val="600"/>
              </a:spcAft>
            </a:pPr>
            <a:r>
              <a:rPr lang="en-US" sz="2800" b="0" dirty="0">
                <a:solidFill>
                  <a:schemeClr val="tx1"/>
                </a:solidFill>
                <a:latin typeface="+mn-lt"/>
              </a:rPr>
              <a:t>w2.wrn</a:t>
            </a:r>
          </a:p>
          <a:p>
            <a:pPr marL="1028700" lvl="1" indent="-457200">
              <a:spcAft>
                <a:spcPts val="600"/>
              </a:spcAft>
            </a:pPr>
            <a:r>
              <a:rPr lang="en-US" sz="2800" b="0" dirty="0">
                <a:solidFill>
                  <a:schemeClr val="tx1"/>
                </a:solidFill>
                <a:latin typeface="+mn-lt"/>
              </a:rPr>
              <a:t>W2.err</a:t>
            </a:r>
          </a:p>
          <a:p>
            <a:pPr marL="1028700" lvl="1" indent="-457200">
              <a:spcAft>
                <a:spcPts val="600"/>
              </a:spcAft>
            </a:pPr>
            <a:r>
              <a:rPr lang="en-US" sz="2800" b="0" dirty="0">
                <a:solidFill>
                  <a:schemeClr val="tx1"/>
                </a:solidFill>
                <a:latin typeface="+mn-lt"/>
              </a:rPr>
              <a:t>W2ErrorDump.csv</a:t>
            </a:r>
          </a:p>
          <a:p>
            <a:pPr marL="514350" indent="-514350">
              <a:buAutoNum type="arabicPlain" startAt="15"/>
            </a:pPr>
            <a:endParaRPr 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314498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/>
                <a:ea typeface="DengXian" panose="02010600030101010101" pitchFamily="2" charset="-122"/>
                <a:cs typeface="Arial"/>
              </a:rPr>
              <a:t>W2 Model Output Files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9606C-C4FD-00B1-9AFD-A4CFBF189023}"/>
              </a:ext>
            </a:extLst>
          </p:cNvPr>
          <p:cNvSpPr txBox="1"/>
          <p:nvPr/>
        </p:nvSpPr>
        <p:spPr>
          <a:xfrm>
            <a:off x="712239" y="1021836"/>
            <a:ext cx="5585927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600"/>
              </a:spcAft>
              <a:buNone/>
            </a:pPr>
            <a:r>
              <a:rPr lang="en-US" sz="2200" kern="0" dirty="0"/>
              <a:t>1	SNP - Snapshot </a:t>
            </a:r>
          </a:p>
          <a:p>
            <a:pPr marL="514350" indent="-514350">
              <a:spcAft>
                <a:spcPts val="600"/>
              </a:spcAft>
            </a:pPr>
            <a:r>
              <a:rPr lang="en-US" sz="2200" kern="0" dirty="0"/>
              <a:t>2	PRF - Profile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200" kern="0" dirty="0"/>
              <a:t>3	SPR - Spreadsheet profile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200" kern="0" dirty="0"/>
              <a:t>4	W2L – W2Post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200" kern="0" dirty="0"/>
              <a:t>5	CPL - Contour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200" kern="0" dirty="0"/>
              <a:t>6	TECPLOT - Contour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200" kern="0" dirty="0"/>
              <a:t>7	FLUX - Kinetic fluxes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200" kern="0" dirty="0"/>
              <a:t>8	TSR - Time series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200" kern="0" dirty="0"/>
              <a:t>9	WLEVEL – Water level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200" kern="0" dirty="0"/>
              <a:t>10	FLOWBAL - Flow balance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200" kern="0" dirty="0"/>
              <a:t>11	NPBAL – N and P mass balance</a:t>
            </a:r>
          </a:p>
          <a:p>
            <a:pPr marL="514350" indent="-514350">
              <a:spcAft>
                <a:spcPts val="600"/>
              </a:spcAft>
              <a:buAutoNum type="arabicPlain" startAt="12"/>
            </a:pPr>
            <a:r>
              <a:rPr lang="en-US" sz="2200" kern="0" dirty="0"/>
              <a:t>WDO - Withdrawal outflow</a:t>
            </a:r>
          </a:p>
          <a:p>
            <a:pPr marL="514350" indent="-514350">
              <a:spcAft>
                <a:spcPts val="600"/>
              </a:spcAft>
              <a:buFontTx/>
              <a:buAutoNum type="arabicPlain" startAt="12"/>
            </a:pPr>
            <a:r>
              <a:rPr lang="en-US" sz="2200" kern="0" dirty="0"/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57085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/>
                <a:ea typeface="DengXian" panose="02010600030101010101" pitchFamily="2" charset="-122"/>
                <a:cs typeface="Arial"/>
              </a:rPr>
              <a:t>W2 Model Output Control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52FEE4-4CFC-58B8-ED46-3BC5149DB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85" y="1162978"/>
            <a:ext cx="6457561" cy="50304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8D0359-25E7-F870-60C3-D1A723914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842" y="1162978"/>
            <a:ext cx="4448698" cy="512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39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/>
                <a:ea typeface="DengXian" panose="02010600030101010101" pitchFamily="2" charset="-122"/>
                <a:cs typeface="Arial"/>
              </a:rPr>
              <a:t>W2 Model Output Control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9FD5BE61-2DE5-FC60-F24F-1D8C46257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79" y="1016297"/>
            <a:ext cx="5738535" cy="5279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F078DD5F-430F-5494-544B-2770AB4F51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814" y="1016297"/>
            <a:ext cx="5363786" cy="46782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219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/>
                <a:ea typeface="DengXian" panose="02010600030101010101" pitchFamily="2" charset="-122"/>
                <a:cs typeface="Arial"/>
              </a:rPr>
              <a:t>W2 Model Output Control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7F8C71-8052-E722-8C57-B95B89B3D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63" y="1205271"/>
            <a:ext cx="5383778" cy="29142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4DDD7E-E6D5-E1BD-26D7-9D1816F27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863" y="1205272"/>
            <a:ext cx="5475257" cy="29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36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/>
                <a:ea typeface="DengXian" panose="02010600030101010101" pitchFamily="2" charset="-122"/>
                <a:cs typeface="Arial"/>
              </a:rPr>
              <a:t>Review DeGray Reservoir Output Files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CF0F2A-690F-EA8C-D9D4-639BEE210300}"/>
              </a:ext>
            </a:extLst>
          </p:cNvPr>
          <p:cNvSpPr txBox="1"/>
          <p:nvPr/>
        </p:nvSpPr>
        <p:spPr>
          <a:xfrm>
            <a:off x="557093" y="2121170"/>
            <a:ext cx="7347280" cy="4221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7338" lvl="1" indent="-2873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pre.opt </a:t>
            </a:r>
            <a:r>
              <a:rPr lang="en-US" sz="2000" b="1" dirty="0">
                <a:effectLst/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-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</a:rPr>
              <a:t>Preprocessor</a:t>
            </a:r>
            <a:endParaRPr lang="en-US" sz="2000" dirty="0"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87338" lvl="1" indent="-2873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tsr_1_seg31.csv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– Segment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</a:rPr>
              <a:t>time series plot </a:t>
            </a:r>
            <a:endParaRPr lang="en-US" sz="2000" dirty="0"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87338" lvl="1" indent="-2873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spr.csv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– Segment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</a:rPr>
              <a:t>spreadsheet profile </a:t>
            </a:r>
            <a:endParaRPr lang="en-US" sz="2000" dirty="0"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flx.opt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– Segment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</a:rPr>
              <a:t>flux</a:t>
            </a:r>
            <a:endParaRPr lang="en-US" sz="2000" dirty="0"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kflux_wb1.csv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– Waterbody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</a:rPr>
              <a:t>flux</a:t>
            </a:r>
            <a:endParaRPr lang="en-US" sz="2000" dirty="0"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qwo_31.csv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sz="20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</a:rPr>
              <a:t>ithdrawal outflow file for flow</a:t>
            </a:r>
            <a:endParaRPr lang="en-US" sz="2000" dirty="0"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two_31.csv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sz="20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</a:rPr>
              <a:t>ithdrawal outflow file for temperature</a:t>
            </a:r>
            <a:endParaRPr lang="en-US" sz="2000" dirty="0"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cwo_31.csv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sz="20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</a:rPr>
              <a:t>ithdrawal outflow file for constituent concentrations</a:t>
            </a:r>
            <a:endParaRPr lang="en-US" sz="2000" dirty="0"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dwo_31.csv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sz="20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</a:rPr>
              <a:t>ithdrawal outflow file for derived constituent concentrations</a:t>
            </a:r>
            <a:endParaRPr lang="en-US" sz="2000" dirty="0"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CE8FF-00FF-8019-C268-C9E0705EF878}"/>
              </a:ext>
            </a:extLst>
          </p:cNvPr>
          <p:cNvSpPr txBox="1"/>
          <p:nvPr/>
        </p:nvSpPr>
        <p:spPr>
          <a:xfrm>
            <a:off x="6981462" y="2449657"/>
            <a:ext cx="5136695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wl.csv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– Surface water level 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flowbal.csv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sz="20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</a:rPr>
              <a:t>aterbody f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low balance 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massbal.csv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sz="20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</a:rPr>
              <a:t>aterbody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N and P mass balance 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degray.w2l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- W2Post Postprocessor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Calibri" panose="020F0502020204030204" pitchFamily="34" charset="0"/>
              </a:rPr>
              <a:t>snp.opt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66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sz="2000" dirty="0">
                <a:effectLst/>
                <a:latin typeface="+mn-lt"/>
                <a:ea typeface="DengXian" panose="02010600030101010101" pitchFamily="2" charset="-122"/>
              </a:rPr>
              <a:t>Snapshot</a:t>
            </a:r>
            <a:endParaRPr lang="en-US" sz="2000" dirty="0"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2C5F4-EB41-A671-D374-6158101AD58D}"/>
              </a:ext>
            </a:extLst>
          </p:cNvPr>
          <p:cNvSpPr txBox="1"/>
          <p:nvPr/>
        </p:nvSpPr>
        <p:spPr>
          <a:xfrm>
            <a:off x="533528" y="1185633"/>
            <a:ext cx="60991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Run the DeGray W2 model</a:t>
            </a:r>
            <a:endParaRPr lang="en-US" sz="2400" dirty="0">
              <a:solidFill>
                <a:srgbClr val="000000"/>
              </a:solidFill>
              <a:effectLst/>
              <a:latin typeface="Verdana" panose="020B060403050404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Review the following W2 model output files </a:t>
            </a:r>
            <a:endParaRPr lang="en-US" sz="2400" dirty="0">
              <a:solidFill>
                <a:srgbClr val="000000"/>
              </a:solidFill>
              <a:effectLst/>
              <a:latin typeface="Verdana" panose="020B060403050404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791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199234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Questions?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" name="Picture 3" descr="A picture containing mountain, nature, outdoor, track&#10;&#10;Description automatically generated">
            <a:extLst>
              <a:ext uri="{FF2B5EF4-FFF2-40B4-BE49-F238E27FC236}">
                <a16:creationId xmlns:a16="http://schemas.microsoft.com/office/drawing/2014/main" id="{1AF182D0-0F6D-0A39-F4C5-543A714F7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102" y="898087"/>
            <a:ext cx="8168509" cy="530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77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Templates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22F0FA2-19C7-43A3-AA26-1FC3028BC721}" vid="{2BB31517-1312-4F35-8F70-B9A7CDB59602}"/>
    </a:ext>
  </a:extLst>
</a:theme>
</file>

<file path=ppt/theme/theme2.xml><?xml version="1.0" encoding="utf-8"?>
<a:theme xmlns:a="http://schemas.openxmlformats.org/drawingml/2006/main" name="UNCL // FOUO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A99B459A-8B1A-4C1C-862F-E0F9CCA22596}"/>
    </a:ext>
  </a:extLst>
</a:theme>
</file>

<file path=ppt/theme/theme3.xml><?xml version="1.0" encoding="utf-8"?>
<a:theme xmlns:a="http://schemas.openxmlformats.org/drawingml/2006/main" name="UNCLASSIFIED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63E75002-AE9D-4785-8124-3AFCCDC59DC3}"/>
    </a:ext>
  </a:extLst>
</a:theme>
</file>

<file path=ppt/theme/theme4.xml><?xml version="1.0" encoding="utf-8"?>
<a:theme xmlns:a="http://schemas.openxmlformats.org/drawingml/2006/main" name="Custom Classification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C6CC15A3-3625-4B74-BD53-DE8C42AE3990}"/>
    </a:ext>
  </a:extLst>
</a:theme>
</file>

<file path=ppt/theme/theme5.xml><?xml version="1.0" encoding="utf-8"?>
<a:theme xmlns:a="http://schemas.openxmlformats.org/drawingml/2006/main" name="Standard White Theme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0957B2FE-61BF-4E25-9901-9769BBB77AC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AF2FAC55F63A40BD9EED0C36836299" ma:contentTypeVersion="11" ma:contentTypeDescription="Create a new document." ma:contentTypeScope="" ma:versionID="3728a24128c8d92f839bb13793558aed">
  <xsd:schema xmlns:xsd="http://www.w3.org/2001/XMLSchema" xmlns:xs="http://www.w3.org/2001/XMLSchema" xmlns:p="http://schemas.microsoft.com/office/2006/metadata/properties" xmlns:ns2="83868113-c0a5-43de-a876-5fe4e9e92519" xmlns:ns3="33812d21-cc6d-40d3-8190-1784895c4f86" targetNamespace="http://schemas.microsoft.com/office/2006/metadata/properties" ma:root="true" ma:fieldsID="b12b5e841fafb2392613c5d5cd91cc7a" ns2:_="" ns3:_="">
    <xsd:import namespace="83868113-c0a5-43de-a876-5fe4e9e92519"/>
    <xsd:import namespace="33812d21-cc6d-40d3-8190-1784895c4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68113-c0a5-43de-a876-5fe4e9e92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e6c1609-49e0-4fdc-8f5b-8b798a9691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12d21-cc6d-40d3-8190-1784895c4f8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54ceb61-3fcb-461d-8e52-255959401034}" ma:internalName="TaxCatchAll" ma:showField="CatchAllData" ma:web="33812d21-cc6d-40d3-8190-1784895c4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868113-c0a5-43de-a876-5fe4e9e92519">
      <Terms xmlns="http://schemas.microsoft.com/office/infopath/2007/PartnerControls"/>
    </lcf76f155ced4ddcb4097134ff3c332f>
    <TaxCatchAll xmlns="33812d21-cc6d-40d3-8190-1784895c4f86" xsi:nil="true"/>
  </documentManagement>
</p:properties>
</file>

<file path=customXml/itemProps1.xml><?xml version="1.0" encoding="utf-8"?>
<ds:datastoreItem xmlns:ds="http://schemas.openxmlformats.org/officeDocument/2006/customXml" ds:itemID="{78CBD256-2BB3-4133-8F6F-96EF2A4B6407}"/>
</file>

<file path=customXml/itemProps2.xml><?xml version="1.0" encoding="utf-8"?>
<ds:datastoreItem xmlns:ds="http://schemas.openxmlformats.org/officeDocument/2006/customXml" ds:itemID="{558FABFF-2334-4719-9D84-3E10528D1E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91F692-3C53-4CCC-ABAB-DE325E273E84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d0df2f8a-2bd1-4a75-833f-ab046cdad13d"/>
    <ds:schemaRef ds:uri="3d7cd9bf-014c-4164-aa31-ccc0b16984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ERDC PowerPoint Template - CUI</Template>
  <TotalTime>562</TotalTime>
  <Words>286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Calibri</vt:lpstr>
      <vt:lpstr>Calibri Light</vt:lpstr>
      <vt:lpstr>Verdana</vt:lpstr>
      <vt:lpstr>Wingdings</vt:lpstr>
      <vt:lpstr>Title Slide Templates</vt:lpstr>
      <vt:lpstr>UNCL // FOUO Content</vt:lpstr>
      <vt:lpstr>UNCLASSIFIED Content</vt:lpstr>
      <vt:lpstr>Custom Classification Content</vt:lpstr>
      <vt:lpstr>Standard White Theme</vt:lpstr>
      <vt:lpstr>CE-QUAL-W2 Model Outputs Overview</vt:lpstr>
      <vt:lpstr>W2 Model Outputs</vt:lpstr>
      <vt:lpstr>W2 Model Output Files</vt:lpstr>
      <vt:lpstr>W2 Model Output Control</vt:lpstr>
      <vt:lpstr>W2 Model Output Control</vt:lpstr>
      <vt:lpstr>W2 Model Output Control</vt:lpstr>
      <vt:lpstr>Review DeGray Reservoir Output Files</vt:lpstr>
      <vt:lpstr>Questions?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CE-QUAL-W2 workshop Bathymetry</dc:title>
  <dc:creator>Melendez, Lauren L CIV USARMY CEERD-EL (USA)</dc:creator>
  <cp:lastModifiedBy>Melendez, Lauren L CIV USARMY CEERD-EL (USA)</cp:lastModifiedBy>
  <cp:revision>175</cp:revision>
  <cp:lastPrinted>2018-03-14T15:02:38Z</cp:lastPrinted>
  <dcterms:created xsi:type="dcterms:W3CDTF">2022-08-04T21:02:01Z</dcterms:created>
  <dcterms:modified xsi:type="dcterms:W3CDTF">2024-06-25T14:38:17Z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0x01010031AF2FAC55F63A40BD9EED0C36836299</vt:lpwstr>
  </property>
</Properties>
</file>